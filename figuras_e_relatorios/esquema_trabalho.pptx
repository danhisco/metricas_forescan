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660"/>
  </p:normalViewPr>
  <p:slideViewPr>
    <p:cSldViewPr snapToGrid="0">
      <p:cViewPr>
        <p:scale>
          <a:sx n="125" d="100"/>
          <a:sy n="125" d="100"/>
        </p:scale>
        <p:origin x="2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E90C8-EB74-333F-52B1-C7FA69A5F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7568AD-88AC-FB2A-BF68-A081006A5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D5DC19-8BA9-1C5A-ACA0-CB53F6B6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B245AB-6180-3A1A-72C3-EBFF310AF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61099B-9721-15E0-498A-260FFD30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619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79C45-6374-81C3-282B-CB1E1E71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4FB583-4A5F-2BEE-67C0-2A719D4AC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678CF8-974F-BCD3-DDA1-9176B8D5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0E4259-8BA5-660B-B1B3-CB422534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5F971F-6FD9-638A-6D95-C37F0F3E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29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0CC3-0F43-4CA0-98BE-2807928A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F6861B-182E-5B02-C840-54C79C3D9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EC65B4-2C6A-D8CB-3232-71A05E5F8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62E6EE-A4EF-99B4-3F94-38E6F0E8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BA7D75-20FB-AD22-9AF5-3BF657F9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83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F3154-B4E5-DC88-CFC4-E7F6095C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278DC-812B-C7FA-28BB-B9865A70A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37D12D-86DA-007F-74FB-6F8E3B7C9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4CC007-2642-F97C-FA2F-A8EC664E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1F1087-302D-D054-FD73-6B1F17723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0F7CDC-81BE-474B-D0B7-2A82FE13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15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9C44A-497A-2F5E-E93A-50BD2C8FD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9A55F1-372F-9CD7-567B-6D26DCE4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3BC65B-18EF-ED3F-0579-87681548B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E5618B-CA1F-DC42-C3A5-FCDDE505E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4C18A6-6706-1F14-CBF9-29860DC9E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974BE4-520F-5BA2-1190-F8749C3A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194DA8-374E-6219-30A0-63A0242E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E2CDB5-9F81-36C9-43A2-CF8D84B1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4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EC825-95CA-E1FF-AF72-C02008A57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5BF395A-228F-1ED6-1DF0-F8776F59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37995F-FB0D-94A9-8000-C1FF73A04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B153FE-9755-29D4-C674-A1191FAA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429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7A6660-2FF2-D6C3-8BD8-D30A64919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8D0698-2183-BF9D-67C9-B1037133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FEE252-49CE-361F-F561-19896F34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118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76BCD-B97F-7240-1CA2-CDD8D0DE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A62E75-0A64-9479-56C7-AA956A95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546C79-E552-BEEE-90DF-24628F30A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7B1931-7CF0-A982-9402-2C47E59C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B0410-7FD7-E1A5-735D-60222B74D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D79862-58F7-0B33-DB1B-9EB8D35B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64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7A0D6-6DDB-BBE3-08BF-6E383F26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FD0275E-F83C-A042-0559-EDDCF2BF3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9C1794-2A0F-6713-C753-D35F3E9AA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67E102-70CD-9830-B9CC-BF54C7F5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D682F3-7EAA-4E8D-C098-9A4F4E70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C9116E-87C1-3711-DF6E-877440EB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878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3A0BC-8859-B281-8690-F1E40ABF3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1BD4E8-1D5E-C575-9054-FBC0AFFE4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540DEE-0F1B-524E-2260-D791C252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364EF1-FF2C-8742-5867-0779B591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302646-A36A-AACB-0E8B-AA3179CB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188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FD1297-831B-9CE7-C1A3-9D3C9DB72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3E5D29-167D-5A25-1FFD-881B437E0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5E97D9-62FF-C617-3B42-0578FFE0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F05D84-3919-6FF1-8230-DAF00581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8C9A0C-025A-9BD0-3772-476797E7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52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1048FB-85E9-3955-0C8E-1CEFA6F4F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019C4C-ADA6-F75F-8080-A3652B62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FFF297-F267-504B-4AFC-1A59BD29E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ECCE1-FA61-4A09-881B-DAE91FEACC02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C5B5E-253F-2297-FC16-05E5B8B80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F8499-39CD-B56B-DD03-891273A95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106E2-8B40-4007-84C7-515335BB9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20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9CAF6E5-93BB-729B-04E7-D820E1A3026D}"/>
              </a:ext>
            </a:extLst>
          </p:cNvPr>
          <p:cNvSpPr txBox="1"/>
          <p:nvPr/>
        </p:nvSpPr>
        <p:spPr>
          <a:xfrm>
            <a:off x="165690" y="126749"/>
            <a:ext cx="149742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SIVEP-Gripe</a:t>
            </a:r>
          </a:p>
        </p:txBody>
      </p:sp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53A05C61-06D1-E2B5-6D3C-2DBBB613B4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20859" y="784494"/>
            <a:ext cx="769544" cy="196450"/>
          </a:xfrm>
          <a:prstGeom prst="bentConnector3">
            <a:avLst>
              <a:gd name="adj1" fmla="val 994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28C76A9A-B5BD-92C1-141D-6744A5A3170B}"/>
              </a:ext>
            </a:extLst>
          </p:cNvPr>
          <p:cNvSpPr/>
          <p:nvPr/>
        </p:nvSpPr>
        <p:spPr>
          <a:xfrm>
            <a:off x="375036" y="911939"/>
            <a:ext cx="2156108" cy="567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Ground </a:t>
            </a:r>
            <a:r>
              <a:rPr lang="pt-BR" dirty="0" err="1"/>
              <a:t>truth</a:t>
            </a:r>
            <a:r>
              <a:rPr lang="pt-BR" dirty="0"/>
              <a:t>: </a:t>
            </a:r>
            <a:r>
              <a:rPr lang="pt-BR" dirty="0" err="1"/>
              <a:t>consolidated</a:t>
            </a:r>
            <a:r>
              <a:rPr lang="pt-BR" dirty="0"/>
              <a:t> base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E1F334A-5B24-E1A7-ED41-A2D03FF5AAA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663115" y="311415"/>
            <a:ext cx="1838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4CD1C9DC-D9CD-0DAD-4D6E-421CF449206B}"/>
              </a:ext>
            </a:extLst>
          </p:cNvPr>
          <p:cNvSpPr/>
          <p:nvPr/>
        </p:nvSpPr>
        <p:spPr>
          <a:xfrm>
            <a:off x="3501147" y="11815"/>
            <a:ext cx="2346166" cy="8151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Naive</a:t>
            </a:r>
            <a:r>
              <a:rPr lang="pt-BR" dirty="0"/>
              <a:t> baseline:</a:t>
            </a:r>
          </a:p>
          <a:p>
            <a:pPr algn="ctr"/>
            <a:r>
              <a:rPr lang="pt-BR" dirty="0" err="1"/>
              <a:t>Reported</a:t>
            </a:r>
            <a:r>
              <a:rPr lang="pt-BR" dirty="0"/>
              <a:t> </a:t>
            </a:r>
            <a:r>
              <a:rPr lang="pt-BR" dirty="0" err="1"/>
              <a:t>counts</a:t>
            </a:r>
            <a:r>
              <a:rPr lang="pt-BR" dirty="0"/>
              <a:t> </a:t>
            </a:r>
          </a:p>
          <a:p>
            <a:pPr algn="ctr"/>
            <a:r>
              <a:rPr lang="pt-BR" dirty="0"/>
              <a:t>(no delay </a:t>
            </a:r>
            <a:r>
              <a:rPr lang="pt-BR" dirty="0" err="1"/>
              <a:t>correction</a:t>
            </a:r>
            <a:r>
              <a:rPr lang="pt-BR" dirty="0"/>
              <a:t>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CA18C72-149B-B69F-7836-8C81865B576F}"/>
              </a:ext>
            </a:extLst>
          </p:cNvPr>
          <p:cNvSpPr txBox="1"/>
          <p:nvPr/>
        </p:nvSpPr>
        <p:spPr>
          <a:xfrm>
            <a:off x="2910229" y="1177646"/>
            <a:ext cx="35868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Bayesian</a:t>
            </a:r>
            <a:r>
              <a:rPr lang="pt-BR" dirty="0"/>
              <a:t> </a:t>
            </a:r>
            <a:r>
              <a:rPr lang="pt-BR" dirty="0" err="1"/>
              <a:t>nowcasting</a:t>
            </a:r>
            <a:r>
              <a:rPr lang="pt-BR" dirty="0"/>
              <a:t>/</a:t>
            </a:r>
            <a:r>
              <a:rPr lang="pt-BR" dirty="0" err="1"/>
              <a:t>forecasting</a:t>
            </a:r>
            <a:endParaRPr lang="pt-BR" dirty="0"/>
          </a:p>
          <a:p>
            <a:pPr algn="ctr"/>
            <a:r>
              <a:rPr lang="pt-BR" dirty="0" err="1"/>
              <a:t>Predition</a:t>
            </a:r>
            <a:r>
              <a:rPr lang="pt-BR" dirty="0"/>
              <a:t> </a:t>
            </a:r>
            <a:r>
              <a:rPr lang="pt-BR" dirty="0" err="1"/>
              <a:t>distribution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2C3DF3C-3DDC-FDB1-990E-37C05524ED42}"/>
              </a:ext>
            </a:extLst>
          </p:cNvPr>
          <p:cNvSpPr txBox="1"/>
          <p:nvPr/>
        </p:nvSpPr>
        <p:spPr>
          <a:xfrm>
            <a:off x="3144011" y="2529575"/>
            <a:ext cx="1323981" cy="32362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/>
              <a:t>Std</a:t>
            </a:r>
            <a:r>
              <a:rPr lang="pt-BR" dirty="0"/>
              <a:t> </a:t>
            </a:r>
            <a:r>
              <a:rPr lang="pt-BR" dirty="0" err="1"/>
              <a:t>median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1EB0A54-A4E9-909C-D5E9-8D2B0D725A08}"/>
              </a:ext>
            </a:extLst>
          </p:cNvPr>
          <p:cNvSpPr txBox="1"/>
          <p:nvPr/>
        </p:nvSpPr>
        <p:spPr>
          <a:xfrm>
            <a:off x="4691169" y="2532381"/>
            <a:ext cx="1323981" cy="33575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MA </a:t>
            </a:r>
            <a:r>
              <a:rPr lang="pt-BR" dirty="0" err="1"/>
              <a:t>median</a:t>
            </a:r>
            <a:endParaRPr lang="pt-BR" dirty="0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0BF7755-5961-6AB2-6870-B58A9255078D}"/>
              </a:ext>
            </a:extLst>
          </p:cNvPr>
          <p:cNvCxnSpPr>
            <a:cxnSpLocks/>
          </p:cNvCxnSpPr>
          <p:nvPr/>
        </p:nvCxnSpPr>
        <p:spPr>
          <a:xfrm>
            <a:off x="3806001" y="2266296"/>
            <a:ext cx="15718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1D188784-9411-CF83-9E83-1133019B9FA5}"/>
              </a:ext>
            </a:extLst>
          </p:cNvPr>
          <p:cNvCxnSpPr>
            <a:cxnSpLocks/>
          </p:cNvCxnSpPr>
          <p:nvPr/>
        </p:nvCxnSpPr>
        <p:spPr>
          <a:xfrm>
            <a:off x="3810764" y="2256770"/>
            <a:ext cx="1" cy="263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C90B8AF7-9D58-CEC7-277D-FEC0E91FECE8}"/>
              </a:ext>
            </a:extLst>
          </p:cNvPr>
          <p:cNvCxnSpPr>
            <a:cxnSpLocks/>
          </p:cNvCxnSpPr>
          <p:nvPr/>
        </p:nvCxnSpPr>
        <p:spPr>
          <a:xfrm>
            <a:off x="5377815" y="2257299"/>
            <a:ext cx="0" cy="250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B18700A-0EAE-26B2-F7D9-39CCA371A00B}"/>
              </a:ext>
            </a:extLst>
          </p:cNvPr>
          <p:cNvSpPr txBox="1"/>
          <p:nvPr/>
        </p:nvSpPr>
        <p:spPr>
          <a:xfrm>
            <a:off x="3178129" y="3218705"/>
            <a:ext cx="294073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SatSCan</a:t>
            </a:r>
            <a:r>
              <a:rPr lang="pt-BR" dirty="0"/>
              <a:t> CIR </a:t>
            </a:r>
            <a:r>
              <a:rPr lang="pt-BR" dirty="0" err="1"/>
              <a:t>classification</a:t>
            </a:r>
            <a:r>
              <a:rPr lang="pt-BR" dirty="0"/>
              <a:t>:</a:t>
            </a:r>
          </a:p>
          <a:p>
            <a:pPr algn="ctr"/>
            <a:r>
              <a:rPr lang="pt-BR" dirty="0"/>
              <a:t>RR&gt; 1 </a:t>
            </a:r>
            <a:r>
              <a:rPr lang="pt-BR" dirty="0" err="1"/>
              <a:t>or</a:t>
            </a:r>
            <a:r>
              <a:rPr lang="pt-BR" dirty="0"/>
              <a:t> RR ≤ 1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7A4CD902-9913-0590-39DA-DE05CAA5DD48}"/>
              </a:ext>
            </a:extLst>
          </p:cNvPr>
          <p:cNvCxnSpPr>
            <a:cxnSpLocks/>
          </p:cNvCxnSpPr>
          <p:nvPr/>
        </p:nvCxnSpPr>
        <p:spPr>
          <a:xfrm flipV="1">
            <a:off x="4572000" y="1821086"/>
            <a:ext cx="0" cy="434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677FB90A-EAB9-7107-07F2-1FF633BF0E59}"/>
              </a:ext>
            </a:extLst>
          </p:cNvPr>
          <p:cNvCxnSpPr/>
          <p:nvPr/>
        </p:nvCxnSpPr>
        <p:spPr>
          <a:xfrm>
            <a:off x="4572000" y="882719"/>
            <a:ext cx="0" cy="294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2CDA04C8-4265-A006-F792-D7E54C52D177}"/>
              </a:ext>
            </a:extLst>
          </p:cNvPr>
          <p:cNvCxnSpPr/>
          <p:nvPr/>
        </p:nvCxnSpPr>
        <p:spPr>
          <a:xfrm>
            <a:off x="2531144" y="1479710"/>
            <a:ext cx="379085" cy="3413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00A2F977-7C30-0AEA-E24B-A71174AB63BD}"/>
              </a:ext>
            </a:extLst>
          </p:cNvPr>
          <p:cNvSpPr txBox="1"/>
          <p:nvPr/>
        </p:nvSpPr>
        <p:spPr>
          <a:xfrm>
            <a:off x="755909" y="1635142"/>
            <a:ext cx="1945714" cy="89255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Model Performance:</a:t>
            </a:r>
          </a:p>
          <a:p>
            <a:pPr algn="ctr"/>
            <a:r>
              <a:rPr lang="pt-BR" sz="1600" dirty="0"/>
              <a:t>WIS, Pred. Int., MAE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0932EB4F-08E6-BAA4-D999-8B54553BDF0A}"/>
              </a:ext>
            </a:extLst>
          </p:cNvPr>
          <p:cNvCxnSpPr/>
          <p:nvPr/>
        </p:nvCxnSpPr>
        <p:spPr>
          <a:xfrm>
            <a:off x="480060" y="1479710"/>
            <a:ext cx="0" cy="2062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9D7D7D10-F838-DCCE-04EA-EF0AAA6E2312}"/>
              </a:ext>
            </a:extLst>
          </p:cNvPr>
          <p:cNvCxnSpPr>
            <a:cxnSpLocks/>
          </p:cNvCxnSpPr>
          <p:nvPr/>
        </p:nvCxnSpPr>
        <p:spPr>
          <a:xfrm>
            <a:off x="472440" y="3534250"/>
            <a:ext cx="26980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C643C212-9FED-1A6A-E948-1D13220B6721}"/>
              </a:ext>
            </a:extLst>
          </p:cNvPr>
          <p:cNvCxnSpPr>
            <a:cxnSpLocks/>
          </p:cNvCxnSpPr>
          <p:nvPr/>
        </p:nvCxnSpPr>
        <p:spPr>
          <a:xfrm flipH="1">
            <a:off x="3806001" y="2847659"/>
            <a:ext cx="1" cy="376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49CEFAB8-29AA-3EBA-FDA2-BF2E8F810DBD}"/>
              </a:ext>
            </a:extLst>
          </p:cNvPr>
          <p:cNvCxnSpPr/>
          <p:nvPr/>
        </p:nvCxnSpPr>
        <p:spPr>
          <a:xfrm flipH="1">
            <a:off x="5307141" y="2862627"/>
            <a:ext cx="1" cy="361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BDB4BC2C-3A87-AF81-1AC8-159BB0B682A9}"/>
              </a:ext>
            </a:extLst>
          </p:cNvPr>
          <p:cNvCxnSpPr/>
          <p:nvPr/>
        </p:nvCxnSpPr>
        <p:spPr>
          <a:xfrm>
            <a:off x="5847313" y="419405"/>
            <a:ext cx="10183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3F6C849E-8C07-BF7D-6D5C-C9F5FEFABD24}"/>
              </a:ext>
            </a:extLst>
          </p:cNvPr>
          <p:cNvCxnSpPr/>
          <p:nvPr/>
        </p:nvCxnSpPr>
        <p:spPr>
          <a:xfrm>
            <a:off x="6865620" y="419405"/>
            <a:ext cx="0" cy="3122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8CCC3D48-0636-049F-3078-2823514A7ADB}"/>
              </a:ext>
            </a:extLst>
          </p:cNvPr>
          <p:cNvCxnSpPr>
            <a:endCxn id="45" idx="3"/>
          </p:cNvCxnSpPr>
          <p:nvPr/>
        </p:nvCxnSpPr>
        <p:spPr>
          <a:xfrm flipH="1">
            <a:off x="6118860" y="3534250"/>
            <a:ext cx="746760" cy="7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3F218560-9F35-BC8F-A2BF-4EDB5DD1DDD1}"/>
              </a:ext>
            </a:extLst>
          </p:cNvPr>
          <p:cNvSpPr txBox="1"/>
          <p:nvPr/>
        </p:nvSpPr>
        <p:spPr>
          <a:xfrm>
            <a:off x="2453634" y="4119262"/>
            <a:ext cx="2499366" cy="615553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Confusion</a:t>
            </a:r>
            <a:r>
              <a:rPr lang="pt-BR" b="1" dirty="0"/>
              <a:t> </a:t>
            </a:r>
            <a:r>
              <a:rPr lang="pt-BR" b="1" dirty="0" err="1"/>
              <a:t>matrix</a:t>
            </a:r>
            <a:r>
              <a:rPr lang="pt-BR" b="1" dirty="0"/>
              <a:t>:</a:t>
            </a:r>
          </a:p>
          <a:p>
            <a:pPr algn="ctr"/>
            <a:r>
              <a:rPr lang="pt-BR" sz="1600" dirty="0"/>
              <a:t>3 </a:t>
            </a:r>
            <a:r>
              <a:rPr lang="pt-BR" sz="1600" dirty="0" err="1"/>
              <a:t>methods</a:t>
            </a:r>
            <a:r>
              <a:rPr lang="pt-BR" sz="1600" dirty="0"/>
              <a:t> X </a:t>
            </a:r>
            <a:r>
              <a:rPr lang="pt-BR" sz="1600" dirty="0" err="1"/>
              <a:t>ground</a:t>
            </a:r>
            <a:r>
              <a:rPr lang="pt-BR" sz="1600" dirty="0"/>
              <a:t> </a:t>
            </a:r>
            <a:r>
              <a:rPr lang="pt-BR" sz="1600" dirty="0" err="1"/>
              <a:t>truth</a:t>
            </a:r>
            <a:endParaRPr lang="pt-BR" sz="1600" dirty="0"/>
          </a:p>
        </p:txBody>
      </p:sp>
      <p:cxnSp>
        <p:nvCxnSpPr>
          <p:cNvPr id="95" name="Conector de Seta Reta 94">
            <a:extLst>
              <a:ext uri="{FF2B5EF4-FFF2-40B4-BE49-F238E27FC236}">
                <a16:creationId xmlns:a16="http://schemas.microsoft.com/office/drawing/2014/main" id="{1D17B3C3-1AB0-90A7-5A11-FF7909A0C8A6}"/>
              </a:ext>
            </a:extLst>
          </p:cNvPr>
          <p:cNvCxnSpPr/>
          <p:nvPr/>
        </p:nvCxnSpPr>
        <p:spPr>
          <a:xfrm>
            <a:off x="3501147" y="3868072"/>
            <a:ext cx="0" cy="228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tângulo 95">
            <a:extLst>
              <a:ext uri="{FF2B5EF4-FFF2-40B4-BE49-F238E27FC236}">
                <a16:creationId xmlns:a16="http://schemas.microsoft.com/office/drawing/2014/main" id="{D291DCD4-7B66-F97C-091F-4BE0DF254A1D}"/>
              </a:ext>
            </a:extLst>
          </p:cNvPr>
          <p:cNvSpPr/>
          <p:nvPr/>
        </p:nvSpPr>
        <p:spPr>
          <a:xfrm>
            <a:off x="77326" y="3806623"/>
            <a:ext cx="127878" cy="1208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6AAA894E-7C0A-EF5C-22D2-0C6030D0FADF}"/>
              </a:ext>
            </a:extLst>
          </p:cNvPr>
          <p:cNvSpPr txBox="1"/>
          <p:nvPr/>
        </p:nvSpPr>
        <p:spPr>
          <a:xfrm>
            <a:off x="115834" y="3743141"/>
            <a:ext cx="99173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100" dirty="0"/>
              <a:t>Data </a:t>
            </a:r>
            <a:r>
              <a:rPr lang="pt-BR" sz="1100" dirty="0" err="1"/>
              <a:t>source</a:t>
            </a:r>
            <a:endParaRPr lang="pt-BR" sz="1100" dirty="0"/>
          </a:p>
        </p:txBody>
      </p:sp>
      <p:sp>
        <p:nvSpPr>
          <p:cNvPr id="99" name="Retângulo 98">
            <a:extLst>
              <a:ext uri="{FF2B5EF4-FFF2-40B4-BE49-F238E27FC236}">
                <a16:creationId xmlns:a16="http://schemas.microsoft.com/office/drawing/2014/main" id="{2BBBF866-D347-A340-3B8F-B84B3E274043}"/>
              </a:ext>
            </a:extLst>
          </p:cNvPr>
          <p:cNvSpPr/>
          <p:nvPr/>
        </p:nvSpPr>
        <p:spPr>
          <a:xfrm>
            <a:off x="77326" y="3966643"/>
            <a:ext cx="127878" cy="12086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453D1D61-0E6B-5542-504C-4CF0F164043E}"/>
              </a:ext>
            </a:extLst>
          </p:cNvPr>
          <p:cNvSpPr txBox="1"/>
          <p:nvPr/>
        </p:nvSpPr>
        <p:spPr>
          <a:xfrm>
            <a:off x="111967" y="3949588"/>
            <a:ext cx="1090906" cy="1687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100" dirty="0"/>
              <a:t>Gold standard</a:t>
            </a:r>
          </a:p>
        </p:txBody>
      </p:sp>
      <p:sp>
        <p:nvSpPr>
          <p:cNvPr id="103" name="Retângulo 102">
            <a:extLst>
              <a:ext uri="{FF2B5EF4-FFF2-40B4-BE49-F238E27FC236}">
                <a16:creationId xmlns:a16="http://schemas.microsoft.com/office/drawing/2014/main" id="{A23C2222-2FA3-3401-7DE5-B229604787FC}"/>
              </a:ext>
            </a:extLst>
          </p:cNvPr>
          <p:cNvSpPr/>
          <p:nvPr/>
        </p:nvSpPr>
        <p:spPr>
          <a:xfrm>
            <a:off x="80501" y="4119043"/>
            <a:ext cx="127878" cy="1208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505B69EE-2AFA-47FF-F242-F847FFA40C95}"/>
              </a:ext>
            </a:extLst>
          </p:cNvPr>
          <p:cNvSpPr txBox="1"/>
          <p:nvPr/>
        </p:nvSpPr>
        <p:spPr>
          <a:xfrm>
            <a:off x="101872" y="4107680"/>
            <a:ext cx="1199997" cy="1510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100" dirty="0" err="1"/>
              <a:t>Naive</a:t>
            </a:r>
            <a:r>
              <a:rPr lang="pt-BR" sz="1100" dirty="0"/>
              <a:t> approach</a:t>
            </a:r>
          </a:p>
        </p:txBody>
      </p: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DE655592-8EA7-D07C-1011-02AA1C0C019D}"/>
              </a:ext>
            </a:extLst>
          </p:cNvPr>
          <p:cNvSpPr/>
          <p:nvPr/>
        </p:nvSpPr>
        <p:spPr>
          <a:xfrm>
            <a:off x="80501" y="4265093"/>
            <a:ext cx="127878" cy="120864"/>
          </a:xfrm>
          <a:prstGeom prst="rect">
            <a:avLst/>
          </a:prstGeom>
          <a:solidFill>
            <a:srgbClr val="FFC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80B4203F-BC57-16D2-5411-082C5DAA08A0}"/>
              </a:ext>
            </a:extLst>
          </p:cNvPr>
          <p:cNvSpPr txBox="1"/>
          <p:nvPr/>
        </p:nvSpPr>
        <p:spPr>
          <a:xfrm>
            <a:off x="67947" y="4256905"/>
            <a:ext cx="1451997" cy="1510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100" dirty="0"/>
              <a:t>Model-</a:t>
            </a:r>
            <a:r>
              <a:rPr lang="pt-BR" sz="1100" dirty="0" err="1"/>
              <a:t>based</a:t>
            </a:r>
            <a:r>
              <a:rPr lang="pt-BR" sz="1100" dirty="0"/>
              <a:t> input</a:t>
            </a:r>
          </a:p>
        </p:txBody>
      </p: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1C38AA99-8416-EC51-0475-E410BECE4B03}"/>
              </a:ext>
            </a:extLst>
          </p:cNvPr>
          <p:cNvSpPr/>
          <p:nvPr/>
        </p:nvSpPr>
        <p:spPr>
          <a:xfrm>
            <a:off x="83676" y="4407968"/>
            <a:ext cx="127878" cy="1208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F9EEE3A4-9ACC-8B26-8B6A-F5B6EC01E891}"/>
              </a:ext>
            </a:extLst>
          </p:cNvPr>
          <p:cNvSpPr txBox="1"/>
          <p:nvPr/>
        </p:nvSpPr>
        <p:spPr>
          <a:xfrm>
            <a:off x="19892" y="4379601"/>
            <a:ext cx="1090906" cy="1786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100" dirty="0" err="1"/>
              <a:t>Processing</a:t>
            </a:r>
            <a:endParaRPr lang="pt-BR" sz="1100" dirty="0"/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F606A125-3871-B8D9-F1BC-2B68C3DA11A5}"/>
              </a:ext>
            </a:extLst>
          </p:cNvPr>
          <p:cNvSpPr txBox="1"/>
          <p:nvPr/>
        </p:nvSpPr>
        <p:spPr>
          <a:xfrm>
            <a:off x="55769" y="3514720"/>
            <a:ext cx="1014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Legend:</a:t>
            </a:r>
          </a:p>
        </p:txBody>
      </p: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41EA0F6F-2680-8755-90AF-7DA0B444346B}"/>
              </a:ext>
            </a:extLst>
          </p:cNvPr>
          <p:cNvCxnSpPr/>
          <p:nvPr/>
        </p:nvCxnSpPr>
        <p:spPr>
          <a:xfrm>
            <a:off x="77326" y="4652963"/>
            <a:ext cx="2227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7047ADB-5224-4008-FF73-72CCF37FA4CF}"/>
              </a:ext>
            </a:extLst>
          </p:cNvPr>
          <p:cNvSpPr txBox="1"/>
          <p:nvPr/>
        </p:nvSpPr>
        <p:spPr>
          <a:xfrm>
            <a:off x="129425" y="4504827"/>
            <a:ext cx="10909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100" dirty="0" err="1"/>
              <a:t>Main</a:t>
            </a:r>
            <a:r>
              <a:rPr lang="pt-BR" sz="1100" dirty="0"/>
              <a:t> flux</a:t>
            </a:r>
          </a:p>
        </p:txBody>
      </p:sp>
      <p:cxnSp>
        <p:nvCxnSpPr>
          <p:cNvPr id="119" name="Conector reto 118">
            <a:extLst>
              <a:ext uri="{FF2B5EF4-FFF2-40B4-BE49-F238E27FC236}">
                <a16:creationId xmlns:a16="http://schemas.microsoft.com/office/drawing/2014/main" id="{C1492812-9F61-5EBF-947C-90F0B91EDC43}"/>
              </a:ext>
            </a:extLst>
          </p:cNvPr>
          <p:cNvCxnSpPr/>
          <p:nvPr/>
        </p:nvCxnSpPr>
        <p:spPr>
          <a:xfrm>
            <a:off x="77315" y="4805363"/>
            <a:ext cx="22271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BEC9CDB6-2FB0-DDC3-C922-DF6773267EE5}"/>
              </a:ext>
            </a:extLst>
          </p:cNvPr>
          <p:cNvSpPr txBox="1"/>
          <p:nvPr/>
        </p:nvSpPr>
        <p:spPr>
          <a:xfrm>
            <a:off x="119900" y="4657227"/>
            <a:ext cx="10909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100" dirty="0" err="1"/>
              <a:t>Validation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4926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723D0-97B0-7CC0-64BE-C25131EAE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080DAC9-3B1B-4E9A-1D06-7F005A7670E4}"/>
              </a:ext>
            </a:extLst>
          </p:cNvPr>
          <p:cNvSpPr txBox="1"/>
          <p:nvPr/>
        </p:nvSpPr>
        <p:spPr>
          <a:xfrm>
            <a:off x="165690" y="126749"/>
            <a:ext cx="149742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SIVEP-Gripe</a:t>
            </a:r>
          </a:p>
        </p:txBody>
      </p:sp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69EF0172-78F1-BA2E-4FB1-A711E592F4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20859" y="784494"/>
            <a:ext cx="769544" cy="196450"/>
          </a:xfrm>
          <a:prstGeom prst="bentConnector3">
            <a:avLst>
              <a:gd name="adj1" fmla="val 994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6C1FB285-192F-8152-E8C5-A5FF788111D6}"/>
              </a:ext>
            </a:extLst>
          </p:cNvPr>
          <p:cNvSpPr/>
          <p:nvPr/>
        </p:nvSpPr>
        <p:spPr>
          <a:xfrm>
            <a:off x="375036" y="988139"/>
            <a:ext cx="2156108" cy="567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Ground </a:t>
            </a:r>
            <a:r>
              <a:rPr lang="pt-BR" dirty="0" err="1"/>
              <a:t>truth</a:t>
            </a:r>
            <a:r>
              <a:rPr lang="pt-BR" dirty="0"/>
              <a:t>: </a:t>
            </a:r>
            <a:r>
              <a:rPr lang="pt-BR" dirty="0" err="1"/>
              <a:t>consolidated</a:t>
            </a:r>
            <a:r>
              <a:rPr lang="pt-BR" dirty="0"/>
              <a:t> base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17D3F20-D3BA-C8A5-2B2C-AC8F70272CCF}"/>
              </a:ext>
            </a:extLst>
          </p:cNvPr>
          <p:cNvCxnSpPr>
            <a:stCxn id="4" idx="3"/>
          </p:cNvCxnSpPr>
          <p:nvPr/>
        </p:nvCxnSpPr>
        <p:spPr>
          <a:xfrm>
            <a:off x="1663115" y="311415"/>
            <a:ext cx="1143459" cy="5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AFBC7619-6E70-62E0-9074-5A3D3B43DDE5}"/>
              </a:ext>
            </a:extLst>
          </p:cNvPr>
          <p:cNvSpPr/>
          <p:nvPr/>
        </p:nvSpPr>
        <p:spPr>
          <a:xfrm>
            <a:off x="2840690" y="126749"/>
            <a:ext cx="3281532" cy="3711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Current</a:t>
            </a:r>
            <a:r>
              <a:rPr lang="pt-BR" dirty="0"/>
              <a:t> </a:t>
            </a:r>
            <a:r>
              <a:rPr lang="pt-BR" dirty="0" err="1"/>
              <a:t>surveillance</a:t>
            </a:r>
            <a:r>
              <a:rPr lang="pt-BR" dirty="0"/>
              <a:t> </a:t>
            </a:r>
            <a:r>
              <a:rPr lang="pt-BR" dirty="0" err="1"/>
              <a:t>database</a:t>
            </a:r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DB8F545-689C-2975-5C51-2B2A2955E85F}"/>
              </a:ext>
            </a:extLst>
          </p:cNvPr>
          <p:cNvSpPr/>
          <p:nvPr/>
        </p:nvSpPr>
        <p:spPr>
          <a:xfrm>
            <a:off x="2713468" y="951085"/>
            <a:ext cx="2838861" cy="8151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Method</a:t>
            </a:r>
            <a:r>
              <a:rPr lang="pt-BR" dirty="0"/>
              <a:t> 1:</a:t>
            </a:r>
          </a:p>
          <a:p>
            <a:pPr algn="ctr"/>
            <a:r>
              <a:rPr lang="pt-BR" dirty="0" err="1"/>
              <a:t>Bayesian</a:t>
            </a:r>
            <a:r>
              <a:rPr lang="pt-BR" dirty="0"/>
              <a:t> </a:t>
            </a:r>
            <a:r>
              <a:rPr lang="pt-BR" dirty="0" err="1"/>
              <a:t>spatio</a:t>
            </a:r>
            <a:r>
              <a:rPr lang="pt-BR" dirty="0"/>
              <a:t>-temporal </a:t>
            </a:r>
            <a:r>
              <a:rPr lang="pt-BR" dirty="0" err="1"/>
              <a:t>predictive</a:t>
            </a:r>
            <a:r>
              <a:rPr lang="pt-BR" dirty="0"/>
              <a:t> </a:t>
            </a:r>
            <a:r>
              <a:rPr lang="pt-BR" dirty="0" err="1"/>
              <a:t>modeling</a:t>
            </a:r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59A1897-7ACF-BF6F-5C3E-F5C17BC9747E}"/>
              </a:ext>
            </a:extLst>
          </p:cNvPr>
          <p:cNvSpPr/>
          <p:nvPr/>
        </p:nvSpPr>
        <p:spPr>
          <a:xfrm>
            <a:off x="5681402" y="949584"/>
            <a:ext cx="2132878" cy="8151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Method</a:t>
            </a:r>
            <a:r>
              <a:rPr lang="pt-BR" dirty="0"/>
              <a:t> 2:</a:t>
            </a:r>
          </a:p>
          <a:p>
            <a:pPr algn="ctr"/>
            <a:r>
              <a:rPr lang="pt-BR" dirty="0" err="1"/>
              <a:t>Method</a:t>
            </a:r>
            <a:r>
              <a:rPr lang="pt-BR" dirty="0"/>
              <a:t> 1 + Moving </a:t>
            </a:r>
            <a:r>
              <a:rPr lang="pt-BR" dirty="0" err="1"/>
              <a:t>average</a:t>
            </a:r>
            <a:r>
              <a:rPr lang="pt-BR" dirty="0"/>
              <a:t> </a:t>
            </a:r>
            <a:r>
              <a:rPr lang="pt-BR" dirty="0" err="1"/>
              <a:t>smoothing</a:t>
            </a:r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61C17FE-48AD-9B6B-77B5-548E00E17D42}"/>
              </a:ext>
            </a:extLst>
          </p:cNvPr>
          <p:cNvSpPr/>
          <p:nvPr/>
        </p:nvSpPr>
        <p:spPr>
          <a:xfrm>
            <a:off x="8026738" y="948081"/>
            <a:ext cx="2346166" cy="8151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Naive</a:t>
            </a:r>
            <a:r>
              <a:rPr lang="pt-BR" dirty="0"/>
              <a:t> baseline:</a:t>
            </a:r>
          </a:p>
          <a:p>
            <a:pPr algn="ctr"/>
            <a:r>
              <a:rPr lang="pt-BR" dirty="0" err="1"/>
              <a:t>Reported</a:t>
            </a:r>
            <a:r>
              <a:rPr lang="pt-BR" dirty="0"/>
              <a:t> </a:t>
            </a:r>
            <a:r>
              <a:rPr lang="pt-BR" dirty="0" err="1"/>
              <a:t>counts</a:t>
            </a:r>
            <a:r>
              <a:rPr lang="pt-BR" dirty="0"/>
              <a:t> </a:t>
            </a:r>
          </a:p>
          <a:p>
            <a:pPr algn="ctr"/>
            <a:r>
              <a:rPr lang="pt-BR" dirty="0"/>
              <a:t>(no delay </a:t>
            </a:r>
            <a:r>
              <a:rPr lang="pt-BR" dirty="0" err="1"/>
              <a:t>correction</a:t>
            </a:r>
            <a:r>
              <a:rPr lang="pt-BR" dirty="0"/>
              <a:t>)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2C5C00A8-D4B3-2A66-C297-6F5AC6CACF5D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4132899" y="497947"/>
            <a:ext cx="348557" cy="453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A9F8AEFB-EEE4-2DDE-8542-AB6A584B5239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>
            <a:off x="4481456" y="497947"/>
            <a:ext cx="2266385" cy="451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C1366FC7-6872-B769-84FD-B791493606B9}"/>
              </a:ext>
            </a:extLst>
          </p:cNvPr>
          <p:cNvCxnSpPr>
            <a:stCxn id="15" idx="2"/>
            <a:endCxn id="20" idx="0"/>
          </p:cNvCxnSpPr>
          <p:nvPr/>
        </p:nvCxnSpPr>
        <p:spPr>
          <a:xfrm>
            <a:off x="4481456" y="497947"/>
            <a:ext cx="4718365" cy="450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EEDA7F3-C4DE-EE5F-7EC0-43766E86A7FD}"/>
              </a:ext>
            </a:extLst>
          </p:cNvPr>
          <p:cNvSpPr txBox="1"/>
          <p:nvPr/>
        </p:nvSpPr>
        <p:spPr>
          <a:xfrm>
            <a:off x="669956" y="2480650"/>
            <a:ext cx="9171161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@portellatp@gmail.com </a:t>
            </a:r>
          </a:p>
          <a:p>
            <a:br>
              <a:rPr lang="pt-BR" sz="1050" dirty="0"/>
            </a:br>
            <a:endParaRPr lang="pt-BR" sz="1050" dirty="0"/>
          </a:p>
          <a:p>
            <a:r>
              <a:rPr lang="pt-BR" sz="1050" dirty="0"/>
              <a:t>eu entendi que existe apenas um único modelo preditivo, que é aplicado de duas formas: na forma padrão de interpretação da mediana da distribuição a posteriori; e com a média </a:t>
            </a:r>
            <a:r>
              <a:rPr lang="pt-BR" sz="1050" dirty="0" err="1"/>
              <a:t>movel</a:t>
            </a:r>
            <a:r>
              <a:rPr lang="pt-BR" sz="1050" dirty="0"/>
              <a:t> dessa mediana. Nesse contexto, o valor 2142 = 63 * 34, certo?</a:t>
            </a:r>
          </a:p>
          <a:p>
            <a:r>
              <a:rPr lang="pt-BR" sz="1050" dirty="0"/>
              <a:t>Ou seja, é uma predição para cada local e momento. Portanto, na verdade </a:t>
            </a:r>
            <a:r>
              <a:rPr lang="pt-BR" sz="1050" dirty="0" err="1"/>
              <a:t>estavamos</a:t>
            </a:r>
            <a:r>
              <a:rPr lang="pt-BR" sz="1050" dirty="0"/>
              <a:t> falando de 2142 predições e não modelos.</a:t>
            </a:r>
          </a:p>
          <a:p>
            <a:br>
              <a:rPr lang="pt-BR" sz="1050" dirty="0"/>
            </a:br>
            <a:endParaRPr lang="pt-BR" sz="1050" dirty="0"/>
          </a:p>
          <a:p>
            <a:r>
              <a:rPr lang="pt-BR" sz="1050" dirty="0"/>
              <a:t>Para mim, da forma que está apresentando o texto a mensagem principal não está bem clara:</a:t>
            </a:r>
          </a:p>
          <a:p>
            <a:r>
              <a:rPr lang="pt-BR" sz="1050" dirty="0"/>
              <a:t>i) existe a demanda por modelos preditivos que corrijam e antecipem casos, pois os valores reportados oportunos apresentam conhecido efeito de atraso</a:t>
            </a:r>
          </a:p>
          <a:p>
            <a:r>
              <a:rPr lang="pt-BR" sz="1050" dirty="0" err="1"/>
              <a:t>ii</a:t>
            </a:r>
            <a:r>
              <a:rPr lang="pt-BR" sz="1050" dirty="0"/>
              <a:t>) exploramos um modelo preditivo que faz correção e antecipação para 63 localidades e 34 semanas epidemiológicas em uma região populosa e </a:t>
            </a:r>
            <a:r>
              <a:rPr lang="pt-BR" sz="1050" dirty="0" err="1"/>
              <a:t>heterogenea</a:t>
            </a:r>
            <a:endParaRPr lang="pt-BR" sz="1050" dirty="0"/>
          </a:p>
          <a:p>
            <a:r>
              <a:rPr lang="pt-BR" sz="1050" dirty="0" err="1"/>
              <a:t>iii</a:t>
            </a:r>
            <a:r>
              <a:rPr lang="pt-BR" sz="1050" dirty="0"/>
              <a:t>) a partir dos dados consolidados, </a:t>
            </a:r>
            <a:r>
              <a:rPr lang="pt-BR" sz="1050" dirty="0" err="1"/>
              <a:t>inorpotunos</a:t>
            </a:r>
            <a:r>
              <a:rPr lang="pt-BR" sz="1050" dirty="0"/>
              <a:t>, avaliamos as inferências </a:t>
            </a:r>
            <a:r>
              <a:rPr lang="pt-BR" sz="1050" dirty="0" err="1"/>
              <a:t>epidemiologicas</a:t>
            </a:r>
            <a:r>
              <a:rPr lang="pt-BR" sz="1050" dirty="0"/>
              <a:t> oportunas (predição e a base bruta) a partir do padrão ouro de detecção de agregados espaço-temporal de risco relativo elevado</a:t>
            </a:r>
          </a:p>
          <a:p>
            <a:r>
              <a:rPr lang="pt-BR" sz="1050" dirty="0" err="1"/>
              <a:t>iv</a:t>
            </a:r>
            <a:r>
              <a:rPr lang="pt-BR" sz="1050" dirty="0"/>
              <a:t>) observamos que as predições oportunas, posteriormente suavizadas por uma média </a:t>
            </a:r>
            <a:r>
              <a:rPr lang="pt-BR" sz="1050" dirty="0" err="1"/>
              <a:t>movel</a:t>
            </a:r>
            <a:r>
              <a:rPr lang="pt-BR" sz="1050" dirty="0"/>
              <a:t> , apresentam inferência epidemiológica similar aos valores consolidados </a:t>
            </a:r>
            <a:r>
              <a:rPr lang="pt-BR" sz="1050" dirty="0" err="1"/>
              <a:t>inorpotunos</a:t>
            </a:r>
            <a:r>
              <a:rPr lang="pt-BR" sz="1050" dirty="0"/>
              <a:t> em contraste às inferências obtidas pela base bruta.</a:t>
            </a:r>
          </a:p>
          <a:p>
            <a:r>
              <a:rPr lang="pt-BR" sz="1050" dirty="0"/>
              <a:t>v) como esperado, a melhor inferência epidemiológica oportuna é coerente com métricas de performance preditiva (WIS, MAE e cobertura). Essa parte das métricas eu acho que deveria ir a maior parte para SI. Ou então explicitamente </a:t>
            </a:r>
          </a:p>
          <a:p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420073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A5814E9-3BEC-DFFD-4F48-90C95F7E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5" y="1343026"/>
            <a:ext cx="10163606" cy="37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06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363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Danilo Pereira Mori</dc:creator>
  <cp:lastModifiedBy>Danilo Pereira Mori</cp:lastModifiedBy>
  <cp:revision>4</cp:revision>
  <dcterms:created xsi:type="dcterms:W3CDTF">2026-07-20T13:24:50Z</dcterms:created>
  <dcterms:modified xsi:type="dcterms:W3CDTF">2026-08-18T19:00:25Z</dcterms:modified>
</cp:coreProperties>
</file>